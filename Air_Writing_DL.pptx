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1154BF-9EF9-46B2-8A83-AC7285DD7C91}">
  <a:tblStyle styleId="{561154BF-9EF9-46B2-8A83-AC7285DD7C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f2b817436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df2b817436_2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df2b817436_2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f2b817436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g3df2b817436_2_14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3df2b817436_2_14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f2b817436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3df2b817436_2_29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3df2b817436_2_29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f2b817436_2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3df2b817436_2_4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df2b817436_2_4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f2b817436_2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df2b817436_2_5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df2b817436_2_5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f2b817436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3df2b817436_2_7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df2b817436_2_7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f2b817436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df2b817436_2_89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df2b817436_2_89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f2b817436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df2b817436_2_125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df2b817436_2_125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f2b817436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df2b817436_2_137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df2b817436_2_137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f2b817436_2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df2b817436_2_15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df2b817436_2_15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f2b817436_2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3df2b817436_2_167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df2b817436_2_167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f2b817436_2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3df2b817436_2_19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3df2b817436_2_19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f2b817436_2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3df2b817436_2_20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3df2b817436_2_20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f2b817436_2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3df2b817436_2_21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3df2b817436_2_21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cMuvwR8R-ecrtgHL4gv_APNomAEIKSZx/view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183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995160" y="0"/>
            <a:ext cx="2125980" cy="5143500"/>
          </a:xfrm>
          <a:prstGeom prst="rect">
            <a:avLst/>
          </a:prstGeom>
          <a:solidFill>
            <a:srgbClr val="CC1528"/>
          </a:solidFill>
          <a:ln w="12700" cap="flat" cmpd="sng">
            <a:solidFill>
              <a:srgbClr val="CC15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7440930" y="0"/>
            <a:ext cx="1680210" cy="5143500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7920990" y="0"/>
            <a:ext cx="1200150" cy="5143500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445770" y="377190"/>
            <a:ext cx="617220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Font typeface="Calibri"/>
              <a:buNone/>
            </a:pPr>
            <a:r>
              <a:rPr lang="en" sz="6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</a:t>
            </a:r>
            <a:endParaRPr sz="6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Font typeface="Calibri"/>
              <a:buNone/>
            </a:pPr>
            <a:r>
              <a:rPr lang="en" sz="6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endParaRPr sz="6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45770" y="2777490"/>
            <a:ext cx="6446520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Transformer Neural Network on Sequential Pen Stroke Data  |  Deep Learning, Spring 2025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0" y="4581144"/>
            <a:ext cx="9121140" cy="562356"/>
          </a:xfrm>
          <a:prstGeom prst="rect">
            <a:avLst/>
          </a:prstGeom>
          <a:solidFill>
            <a:srgbClr val="CC1528"/>
          </a:solidFill>
          <a:ln w="12700" cap="flat" cmpd="sng">
            <a:solidFill>
              <a:srgbClr val="CC15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445770" y="4697730"/>
            <a:ext cx="41148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UNIVERSITY OF MARYLAND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9A17E5-A8F0-4C0B-DBBD-74B73EA55068}"/>
              </a:ext>
            </a:extLst>
          </p:cNvPr>
          <p:cNvSpPr txBox="1"/>
          <p:nvPr/>
        </p:nvSpPr>
        <p:spPr>
          <a:xfrm>
            <a:off x="445770" y="3350128"/>
            <a:ext cx="34948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NOMITHA SUGAVASI</a:t>
            </a:r>
          </a:p>
          <a:p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RAAGA PRAVIJA GADDAM</a:t>
            </a:r>
          </a:p>
          <a:p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TYUSHA SARAWAGI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445782" y="1042428"/>
            <a:ext cx="2523900" cy="79500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0" y="4745736"/>
            <a:ext cx="9121140" cy="397764"/>
          </a:xfrm>
          <a:prstGeom prst="rect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2263140" y="4745736"/>
            <a:ext cx="329184" cy="397764"/>
          </a:xfrm>
          <a:prstGeom prst="rect">
            <a:avLst/>
          </a:prstGeom>
          <a:solidFill>
            <a:srgbClr val="E8C400"/>
          </a:solidFill>
          <a:ln w="12700" cap="flat" cmpd="sng">
            <a:solidFill>
              <a:srgbClr val="E8C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2640330" y="4745736"/>
            <a:ext cx="329184" cy="397764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3017520" y="4745736"/>
            <a:ext cx="329184" cy="3977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445770" y="260604"/>
            <a:ext cx="78867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3600"/>
              <a:buFont typeface="Calibri"/>
              <a:buNone/>
            </a:pPr>
            <a:r>
              <a:rPr lang="en" sz="36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45770" y="1165860"/>
            <a:ext cx="65151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11470" y="1252935"/>
            <a:ext cx="6515100" cy="24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 real-time air-writing recognition system 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trace a character with your fingertip, get an instant prediction.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Classifies 97 character classes (letters, digits, symbols) from raw (x, y) finger stroke coordinates.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Uses a Transformer neural network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, it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reats each coordinate point like a token in a sequence 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, like words in a sentence.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Runs end-to-end in ~50ms with a live webcam demo pipeline built using MediaPipe and OpenCV.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Three targeted improvements: confidence thresholding, LoRA writer adaptation, and trajectory forecasting.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/>
          <p:nvPr/>
        </p:nvSpPr>
        <p:spPr>
          <a:xfrm>
            <a:off x="445786" y="1042423"/>
            <a:ext cx="3409500" cy="65700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0" y="4745736"/>
            <a:ext cx="9121140" cy="397764"/>
          </a:xfrm>
          <a:prstGeom prst="rect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2263140" y="4745736"/>
            <a:ext cx="329184" cy="397764"/>
          </a:xfrm>
          <a:prstGeom prst="rect">
            <a:avLst/>
          </a:prstGeom>
          <a:solidFill>
            <a:srgbClr val="E8C400"/>
          </a:solidFill>
          <a:ln w="12700" cap="flat" cmpd="sng">
            <a:solidFill>
              <a:srgbClr val="E8C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2640330" y="4745736"/>
            <a:ext cx="329184" cy="397764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3017520" y="4745736"/>
            <a:ext cx="329184" cy="3977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445770" y="260604"/>
            <a:ext cx="78867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3600"/>
              <a:buFont typeface="Calibri"/>
              <a:buNone/>
            </a:pPr>
            <a:r>
              <a:rPr lang="en" sz="36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45770" y="1165860"/>
            <a:ext cx="78867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45775" y="1308026"/>
            <a:ext cx="7886700" cy="26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Transformer classifier maps raw stroke sequences to character labels no image conversion, no temporal information lost.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Real-time webcam pipeline captures, smooths, and normalises finger strokes before feeding them to the model.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LoRA writer adaptation 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personalised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the model to a new user using just 5 samples per class, training only 0.27% of parameters.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Confidence thresholding rejects uncertain predictions, raising usable accuracy from 71.7% to 81.4% at 76% coverage.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445774" y="1014975"/>
            <a:ext cx="3884700" cy="75300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8"/>
          <p:cNvSpPr/>
          <p:nvPr/>
        </p:nvSpPr>
        <p:spPr>
          <a:xfrm>
            <a:off x="0" y="4745736"/>
            <a:ext cx="9121140" cy="397764"/>
          </a:xfrm>
          <a:prstGeom prst="rect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2263140" y="4745736"/>
            <a:ext cx="329184" cy="397764"/>
          </a:xfrm>
          <a:prstGeom prst="rect">
            <a:avLst/>
          </a:prstGeom>
          <a:solidFill>
            <a:srgbClr val="E8C400"/>
          </a:solidFill>
          <a:ln w="12700" cap="flat" cmpd="sng">
            <a:solidFill>
              <a:srgbClr val="E8C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2640330" y="4745736"/>
            <a:ext cx="329184" cy="397764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3017520" y="4745736"/>
            <a:ext cx="329184" cy="3977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445770" y="260604"/>
            <a:ext cx="78867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3600"/>
              <a:buFont typeface="Calibri"/>
              <a:buNone/>
            </a:pPr>
            <a:r>
              <a:rPr lang="en" sz="36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445770" y="1165860"/>
            <a:ext cx="75438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445775" y="1014975"/>
            <a:ext cx="814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457200" lvl="0" indent="-2984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 systems (Lin, UCSC; Baraiya et al.) convert strokes to images, permanently discarding the temporal drawing order.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work handles only 10–36 classes ,no prior system covers the full 97-class vocabulary of letters, digits, and symbols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prior air-writing system personalises to individual users, accuracy drops significantly for unseen writers.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LSTM-based systems process sequences step-by-step vanishing gradients cause failure on longer, more complex strokes.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 systems always output a prediction ,no mechanism exists to detect or reject ambiguous and uncertain gestures.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445786" y="1014978"/>
            <a:ext cx="3619800" cy="75600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0" y="4745736"/>
            <a:ext cx="9121140" cy="397764"/>
          </a:xfrm>
          <a:prstGeom prst="rect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2263140" y="4745736"/>
            <a:ext cx="329184" cy="397764"/>
          </a:xfrm>
          <a:prstGeom prst="rect">
            <a:avLst/>
          </a:prstGeom>
          <a:solidFill>
            <a:srgbClr val="E8C400"/>
          </a:solidFill>
          <a:ln w="12700" cap="flat" cmpd="sng">
            <a:solidFill>
              <a:srgbClr val="E8C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2640330" y="4745736"/>
            <a:ext cx="329184" cy="397764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3017520" y="4745736"/>
            <a:ext cx="329184" cy="3977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445770" y="260604"/>
            <a:ext cx="78867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3600"/>
              <a:buFont typeface="Calibri"/>
              <a:buNone/>
            </a:pPr>
            <a:r>
              <a:rPr lang="en" sz="36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445770" y="1165860"/>
            <a:ext cx="40462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445770" y="1495044"/>
            <a:ext cx="4046220" cy="2366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Treat each (x, y) point as a token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projected into a 256-dim embedding space.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Prepend a BERT-style [CLS] token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its final state classifies the full stroke.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Self-attention: every stroke point attends to every other point simultaneously.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Three improvements extend the baseline beyond simple classification.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>
            <a:off x="4663440" y="1152144"/>
            <a:ext cx="0" cy="2674620"/>
          </a:xfrm>
          <a:prstGeom prst="straightConnector1">
            <a:avLst/>
          </a:prstGeom>
          <a:noFill/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p19"/>
          <p:cNvSpPr/>
          <p:nvPr/>
        </p:nvSpPr>
        <p:spPr>
          <a:xfrm>
            <a:off x="4800600" y="1165860"/>
            <a:ext cx="39090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Why not CNN or LSTM?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4800600" y="1508760"/>
            <a:ext cx="390906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CNN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4800600" y="1748790"/>
            <a:ext cx="390906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Needs a rendered image</a:t>
            </a:r>
            <a:r>
              <a:rPr lang="en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0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converting a stroke to an image discards the temporal drawing order permanently.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4800600" y="2359152"/>
            <a:ext cx="390906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4800600" y="2599182"/>
            <a:ext cx="390906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Processes points one-by-one</a:t>
            </a:r>
            <a:r>
              <a:rPr lang="en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0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vanishing gradients degrade quality over longer stroke sequences.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4800600" y="3209544"/>
            <a:ext cx="390906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A3A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r>
              <a:rPr lang="en" sz="1000" b="1" i="0" u="none" strike="noStrike" cap="none">
                <a:solidFill>
                  <a:srgbClr val="1A7A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4800600" y="3449574"/>
            <a:ext cx="390906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Sees the entire stroke at once. No length limit. Preserves full temporal structure via self-attention.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/>
          <p:nvPr/>
        </p:nvSpPr>
        <p:spPr>
          <a:xfrm>
            <a:off x="0" y="4745736"/>
            <a:ext cx="9121140" cy="397764"/>
          </a:xfrm>
          <a:prstGeom prst="rect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2263140" y="4745736"/>
            <a:ext cx="329184" cy="397764"/>
          </a:xfrm>
          <a:prstGeom prst="rect">
            <a:avLst/>
          </a:prstGeom>
          <a:solidFill>
            <a:srgbClr val="E8C400"/>
          </a:solidFill>
          <a:ln w="12700" cap="flat" cmpd="sng">
            <a:solidFill>
              <a:srgbClr val="E8C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2640330" y="4745736"/>
            <a:ext cx="329184" cy="397764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3017520" y="4745736"/>
            <a:ext cx="329184" cy="3977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445770" y="417129"/>
            <a:ext cx="78867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3600"/>
              <a:buFont typeface="Calibri"/>
              <a:buNone/>
            </a:pPr>
            <a:r>
              <a:rPr lang="en" sz="36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Tools and</a:t>
            </a:r>
            <a:r>
              <a:rPr lang="en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3600"/>
              <a:buFont typeface="Calibri"/>
              <a:buNone/>
            </a:pPr>
            <a:r>
              <a:rPr lang="en" sz="36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/>
          <p:nvPr/>
        </p:nvSpPr>
        <p:spPr>
          <a:xfrm rot="10800000" flipH="1">
            <a:off x="482336" y="1537940"/>
            <a:ext cx="3601500" cy="60000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445770" y="1199187"/>
            <a:ext cx="7886700" cy="31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PyTorch 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model implementation, training loop, and inference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MediaPipe Hand Landmarker 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real-time fingertip coordinate extraction from webcam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OpenCV 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webcam capture and live on-screen prediction display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scikit-learn 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label encoding, stratified 70 / 15 / 15 data splitting, F1 scoring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Matplotlib / Seaborn 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training curves and 97×97 confusion matrix visualisation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Google Colab T4 GPU 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model training environment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UJI Pen Characters v2 (UCI ML Repository) 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11,640 samples · 97 classes · 60 writers · UNIPEN format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0" y="4745736"/>
            <a:ext cx="9121140" cy="397764"/>
          </a:xfrm>
          <a:prstGeom prst="rect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2263140" y="4745736"/>
            <a:ext cx="329184" cy="397764"/>
          </a:xfrm>
          <a:prstGeom prst="rect">
            <a:avLst/>
          </a:prstGeom>
          <a:solidFill>
            <a:srgbClr val="E8C400"/>
          </a:solidFill>
          <a:ln w="12700" cap="flat" cmpd="sng">
            <a:solidFill>
              <a:srgbClr val="E8C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0"/>
          <p:cNvSpPr/>
          <p:nvPr/>
        </p:nvSpPr>
        <p:spPr>
          <a:xfrm>
            <a:off x="2640330" y="4745736"/>
            <a:ext cx="329184" cy="397764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0"/>
          <p:cNvSpPr/>
          <p:nvPr/>
        </p:nvSpPr>
        <p:spPr>
          <a:xfrm>
            <a:off x="3017520" y="4745736"/>
            <a:ext cx="329184" cy="3977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/>
          <p:nvPr/>
        </p:nvSpPr>
        <p:spPr>
          <a:xfrm>
            <a:off x="445781" y="1014977"/>
            <a:ext cx="2523900" cy="75300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0" y="4745736"/>
            <a:ext cx="9121140" cy="397764"/>
          </a:xfrm>
          <a:prstGeom prst="rect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2263140" y="4745736"/>
            <a:ext cx="329184" cy="397764"/>
          </a:xfrm>
          <a:prstGeom prst="rect">
            <a:avLst/>
          </a:prstGeom>
          <a:solidFill>
            <a:srgbClr val="E8C400"/>
          </a:solidFill>
          <a:ln w="12700" cap="flat" cmpd="sng">
            <a:solidFill>
              <a:srgbClr val="E8C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2640330" y="4745736"/>
            <a:ext cx="329184" cy="397764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1"/>
          <p:cNvSpPr/>
          <p:nvPr/>
        </p:nvSpPr>
        <p:spPr>
          <a:xfrm>
            <a:off x="3017520" y="4745736"/>
            <a:ext cx="329184" cy="3977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1"/>
          <p:cNvSpPr/>
          <p:nvPr/>
        </p:nvSpPr>
        <p:spPr>
          <a:xfrm>
            <a:off x="445770" y="260604"/>
            <a:ext cx="78867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3600"/>
              <a:buFont typeface="Calibri"/>
              <a:buNone/>
            </a:pPr>
            <a:r>
              <a:rPr lang="en" sz="36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445770" y="1179576"/>
            <a:ext cx="288036" cy="288036"/>
          </a:xfrm>
          <a:prstGeom prst="ellipse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445770" y="1186434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822960" y="1179576"/>
            <a:ext cx="113157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1988820" y="1179576"/>
            <a:ext cx="665226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Variable-length (x, y) coordinate sequence  ·  shape: (Batch, Time, 2)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1"/>
          <p:cNvCxnSpPr/>
          <p:nvPr/>
        </p:nvCxnSpPr>
        <p:spPr>
          <a:xfrm>
            <a:off x="589788" y="1467612"/>
            <a:ext cx="0" cy="315468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p21"/>
          <p:cNvSpPr/>
          <p:nvPr/>
        </p:nvSpPr>
        <p:spPr>
          <a:xfrm>
            <a:off x="445770" y="1783080"/>
            <a:ext cx="288036" cy="288036"/>
          </a:xfrm>
          <a:prstGeom prst="ellipse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445770" y="1789938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822960" y="1783080"/>
            <a:ext cx="113157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EMBED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1988820" y="1783080"/>
            <a:ext cx="665226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Linear projection → 256-dim space  +  learnable [CLS] token prepended to sequence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21"/>
          <p:cNvCxnSpPr/>
          <p:nvPr/>
        </p:nvCxnSpPr>
        <p:spPr>
          <a:xfrm>
            <a:off x="589788" y="2071116"/>
            <a:ext cx="0" cy="315468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Google Shape;161;p21"/>
          <p:cNvSpPr/>
          <p:nvPr/>
        </p:nvSpPr>
        <p:spPr>
          <a:xfrm>
            <a:off x="445770" y="2386584"/>
            <a:ext cx="288036" cy="288036"/>
          </a:xfrm>
          <a:prstGeom prst="ellipse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1"/>
          <p:cNvSpPr/>
          <p:nvPr/>
        </p:nvSpPr>
        <p:spPr>
          <a:xfrm>
            <a:off x="445770" y="2393442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822960" y="2386584"/>
            <a:ext cx="113157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POSITION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1988820" y="2386584"/>
            <a:ext cx="665226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Learnable positional encodings added to each token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21"/>
          <p:cNvCxnSpPr/>
          <p:nvPr/>
        </p:nvCxnSpPr>
        <p:spPr>
          <a:xfrm>
            <a:off x="589788" y="2674620"/>
            <a:ext cx="0" cy="315468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21"/>
          <p:cNvSpPr/>
          <p:nvPr/>
        </p:nvSpPr>
        <p:spPr>
          <a:xfrm>
            <a:off x="445770" y="2990088"/>
            <a:ext cx="288036" cy="288036"/>
          </a:xfrm>
          <a:prstGeom prst="ellipse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445770" y="2996946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822960" y="2990088"/>
            <a:ext cx="113157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ENCODE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1988820" y="2990088"/>
            <a:ext cx="665226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6× Transformer encoder layers  ·  8 attention heads  ·  ff_dim = 1,024  ·  dropout 0.15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21"/>
          <p:cNvCxnSpPr/>
          <p:nvPr/>
        </p:nvCxnSpPr>
        <p:spPr>
          <a:xfrm>
            <a:off x="589788" y="3278124"/>
            <a:ext cx="0" cy="315468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p21"/>
          <p:cNvSpPr/>
          <p:nvPr/>
        </p:nvSpPr>
        <p:spPr>
          <a:xfrm>
            <a:off x="445770" y="3593592"/>
            <a:ext cx="288036" cy="288036"/>
          </a:xfrm>
          <a:prstGeom prst="ellipse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445770" y="360045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822960" y="3593592"/>
            <a:ext cx="113157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CLASSIFY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1988820" y="3593592"/>
            <a:ext cx="665226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[CLS] output  →  LayerNorm  →  Linear (256 → 97 classes)  →  predicted character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445770" y="4238244"/>
            <a:ext cx="7886700" cy="260604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582930" y="4245102"/>
            <a:ext cx="754380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5,021,281 trainable parameters  ·  AdamW  ·  cosine annealing  ·  40 epochs  ·  label smoothing 0.1  ·  gradient clipping 1.0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/>
          <p:nvPr/>
        </p:nvSpPr>
        <p:spPr>
          <a:xfrm>
            <a:off x="445780" y="1042421"/>
            <a:ext cx="2146500" cy="61200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0" y="4745736"/>
            <a:ext cx="9121140" cy="397764"/>
          </a:xfrm>
          <a:prstGeom prst="rect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2263140" y="4745736"/>
            <a:ext cx="329184" cy="397764"/>
          </a:xfrm>
          <a:prstGeom prst="rect">
            <a:avLst/>
          </a:prstGeom>
          <a:solidFill>
            <a:srgbClr val="E8C400"/>
          </a:solidFill>
          <a:ln w="12700" cap="flat" cmpd="sng">
            <a:solidFill>
              <a:srgbClr val="E8C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2640330" y="4745736"/>
            <a:ext cx="329184" cy="397764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3017520" y="4745736"/>
            <a:ext cx="329184" cy="3977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445770" y="260604"/>
            <a:ext cx="78867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3600"/>
              <a:buFont typeface="Calibri"/>
              <a:buNone/>
            </a:pPr>
            <a:r>
              <a:rPr lang="en" sz="36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445770" y="1165860"/>
            <a:ext cx="754380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445770" y="1495044"/>
            <a:ext cx="7886700" cy="257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22" title="Recording 2026-05-06 17302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775" y="1210175"/>
            <a:ext cx="5704357" cy="333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/>
          <p:nvPr/>
        </p:nvSpPr>
        <p:spPr>
          <a:xfrm>
            <a:off x="445774" y="1014975"/>
            <a:ext cx="4387200" cy="75600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3"/>
          <p:cNvSpPr/>
          <p:nvPr/>
        </p:nvSpPr>
        <p:spPr>
          <a:xfrm>
            <a:off x="0" y="4745736"/>
            <a:ext cx="9121140" cy="397764"/>
          </a:xfrm>
          <a:prstGeom prst="rect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3"/>
          <p:cNvSpPr/>
          <p:nvPr/>
        </p:nvSpPr>
        <p:spPr>
          <a:xfrm>
            <a:off x="2263140" y="4745736"/>
            <a:ext cx="329184" cy="397764"/>
          </a:xfrm>
          <a:prstGeom prst="rect">
            <a:avLst/>
          </a:prstGeom>
          <a:solidFill>
            <a:srgbClr val="E8C400"/>
          </a:solidFill>
          <a:ln w="12700" cap="flat" cmpd="sng">
            <a:solidFill>
              <a:srgbClr val="E8C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3"/>
          <p:cNvSpPr/>
          <p:nvPr/>
        </p:nvSpPr>
        <p:spPr>
          <a:xfrm>
            <a:off x="2640330" y="4745736"/>
            <a:ext cx="329184" cy="397764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3"/>
          <p:cNvSpPr/>
          <p:nvPr/>
        </p:nvSpPr>
        <p:spPr>
          <a:xfrm>
            <a:off x="3017520" y="4745736"/>
            <a:ext cx="329184" cy="3977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3"/>
          <p:cNvSpPr/>
          <p:nvPr/>
        </p:nvSpPr>
        <p:spPr>
          <a:xfrm>
            <a:off x="445770" y="260604"/>
            <a:ext cx="78867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3600"/>
              <a:buFont typeface="Calibri"/>
              <a:buNone/>
            </a:pPr>
            <a:r>
              <a:rPr lang="en" sz="36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Novelty &amp; Comparison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445770" y="1165860"/>
            <a:ext cx="78867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lang="en" sz="1100" b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How our approach differs from conventional methods</a:t>
            </a:r>
            <a:r>
              <a:rPr lang="en" sz="1100" b="0" i="1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Google Shape;203;p23"/>
          <p:cNvGraphicFramePr/>
          <p:nvPr/>
        </p:nvGraphicFramePr>
        <p:xfrm>
          <a:off x="445770" y="15224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{561154BF-9EF9-46B2-8A83-AC7285DD7C91}</a:tableStyleId>
              </a:tblPr>
              <a:tblGrid>
                <a:gridCol w="181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7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Approach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18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18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Temporal Order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18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 Sequences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18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Personalisation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1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CNN Classifier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Rendered image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Lost when rasterised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Fixed size only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LSTM on Coords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Raw (x, y)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(fades over time)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Vanishing gradients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Transformer  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Raw (x, y)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7A3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Fully preserved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constraint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LoRA (+4.1pp)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4" name="Google Shape;204;p23"/>
          <p:cNvSpPr/>
          <p:nvPr/>
        </p:nvSpPr>
        <p:spPr>
          <a:xfrm>
            <a:off x="445770" y="3394710"/>
            <a:ext cx="78867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Our key contributions: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445770" y="3675888"/>
            <a:ext cx="7886700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54000" marR="0" lvl="0" indent="-26035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Char char="•"/>
            </a:pPr>
            <a:r>
              <a:rPr lang="en" sz="11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Raw coordinate input </a:t>
            </a:r>
            <a:r>
              <a:rPr lang="en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" sz="11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temporal drawing order is preserved exactly as drawn, unlike image-based methods that discard it.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6035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Char char="•"/>
            </a:pPr>
            <a:r>
              <a:rPr lang="en" sz="11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LoRA writer adaptation </a:t>
            </a:r>
            <a:r>
              <a:rPr lang="en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" sz="11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personalises accuracy per user with only 5 samples per class and 0.27% of parameters trained.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/>
          <p:nvPr/>
        </p:nvSpPr>
        <p:spPr>
          <a:xfrm>
            <a:off x="445780" y="1014977"/>
            <a:ext cx="2146500" cy="75300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4"/>
          <p:cNvSpPr/>
          <p:nvPr/>
        </p:nvSpPr>
        <p:spPr>
          <a:xfrm>
            <a:off x="0" y="4745736"/>
            <a:ext cx="9121140" cy="397764"/>
          </a:xfrm>
          <a:prstGeom prst="rect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4"/>
          <p:cNvSpPr/>
          <p:nvPr/>
        </p:nvSpPr>
        <p:spPr>
          <a:xfrm>
            <a:off x="2263140" y="4745736"/>
            <a:ext cx="329184" cy="397764"/>
          </a:xfrm>
          <a:prstGeom prst="rect">
            <a:avLst/>
          </a:prstGeom>
          <a:solidFill>
            <a:srgbClr val="E8C400"/>
          </a:solidFill>
          <a:ln w="12700" cap="flat" cmpd="sng">
            <a:solidFill>
              <a:srgbClr val="E8C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4"/>
          <p:cNvSpPr/>
          <p:nvPr/>
        </p:nvSpPr>
        <p:spPr>
          <a:xfrm>
            <a:off x="2640330" y="4745736"/>
            <a:ext cx="329184" cy="397764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4"/>
          <p:cNvSpPr/>
          <p:nvPr/>
        </p:nvSpPr>
        <p:spPr>
          <a:xfrm>
            <a:off x="3017520" y="4745736"/>
            <a:ext cx="329184" cy="3977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4"/>
          <p:cNvSpPr/>
          <p:nvPr/>
        </p:nvSpPr>
        <p:spPr>
          <a:xfrm>
            <a:off x="445770" y="260604"/>
            <a:ext cx="78867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3600"/>
              <a:buFont typeface="Calibri"/>
              <a:buNone/>
            </a:pPr>
            <a:r>
              <a:rPr lang="en" sz="36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445770" y="1152144"/>
            <a:ext cx="78867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Google Colab T4 GPU  ·  Stratified 70/15/15 split  ·  Test set held out until final evaluation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445770" y="1453896"/>
            <a:ext cx="377190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Training Loss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770" y="1714500"/>
            <a:ext cx="3771900" cy="2228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24"/>
          <p:cNvCxnSpPr/>
          <p:nvPr/>
        </p:nvCxnSpPr>
        <p:spPr>
          <a:xfrm>
            <a:off x="4629150" y="1440180"/>
            <a:ext cx="0" cy="2468880"/>
          </a:xfrm>
          <a:prstGeom prst="straightConnector1">
            <a:avLst/>
          </a:prstGeom>
          <a:noFill/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1" name="Google Shape;221;p24"/>
          <p:cNvSpPr/>
          <p:nvPr/>
        </p:nvSpPr>
        <p:spPr>
          <a:xfrm>
            <a:off x="4869180" y="1453896"/>
            <a:ext cx="384048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Validation Accuracy (%)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69180" y="1714500"/>
            <a:ext cx="3840480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/>
          <p:nvPr/>
        </p:nvSpPr>
        <p:spPr>
          <a:xfrm>
            <a:off x="445776" y="1042425"/>
            <a:ext cx="1440300" cy="48000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5"/>
          <p:cNvSpPr/>
          <p:nvPr/>
        </p:nvSpPr>
        <p:spPr>
          <a:xfrm>
            <a:off x="0" y="4745736"/>
            <a:ext cx="9121140" cy="397764"/>
          </a:xfrm>
          <a:prstGeom prst="rect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2263140" y="4745736"/>
            <a:ext cx="329184" cy="397764"/>
          </a:xfrm>
          <a:prstGeom prst="rect">
            <a:avLst/>
          </a:prstGeom>
          <a:solidFill>
            <a:srgbClr val="E8C400"/>
          </a:solidFill>
          <a:ln w="12700" cap="flat" cmpd="sng">
            <a:solidFill>
              <a:srgbClr val="E8C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5"/>
          <p:cNvSpPr/>
          <p:nvPr/>
        </p:nvSpPr>
        <p:spPr>
          <a:xfrm>
            <a:off x="2640330" y="4745736"/>
            <a:ext cx="329184" cy="397764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5"/>
          <p:cNvSpPr/>
          <p:nvPr/>
        </p:nvSpPr>
        <p:spPr>
          <a:xfrm>
            <a:off x="3017520" y="4745736"/>
            <a:ext cx="329184" cy="3977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445770" y="260604"/>
            <a:ext cx="78867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3600"/>
              <a:buFont typeface="Calibri"/>
              <a:buNone/>
            </a:pPr>
            <a:r>
              <a:rPr lang="en" sz="36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754380" y="1200150"/>
            <a:ext cx="2331720" cy="788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4400"/>
              <a:buFont typeface="Calibri"/>
              <a:buNone/>
            </a:pPr>
            <a:r>
              <a:rPr lang="en" sz="44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71.7%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754380" y="1988820"/>
            <a:ext cx="23317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Top-1 Accuracy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1474470" y="2276856"/>
            <a:ext cx="891540" cy="41148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5"/>
          <p:cNvSpPr/>
          <p:nvPr/>
        </p:nvSpPr>
        <p:spPr>
          <a:xfrm>
            <a:off x="3394710" y="1200150"/>
            <a:ext cx="2331720" cy="788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4400"/>
              <a:buFont typeface="Calibri"/>
              <a:buNone/>
            </a:pPr>
            <a:r>
              <a:rPr lang="en" sz="44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95.4%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3394710" y="1988820"/>
            <a:ext cx="23317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Top-5 Accuracy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4114800" y="2276856"/>
            <a:ext cx="891540" cy="41148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6035040" y="1200150"/>
            <a:ext cx="2331720" cy="788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4400"/>
              <a:buFont typeface="Calibri"/>
              <a:buNone/>
            </a:pPr>
            <a:r>
              <a:rPr lang="en" sz="44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0.713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6035040" y="1988820"/>
            <a:ext cx="23317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Macro F1 Score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6755130" y="2276856"/>
            <a:ext cx="891540" cy="41148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3" name="Google Shape;243;p25"/>
          <p:cNvCxnSpPr/>
          <p:nvPr/>
        </p:nvCxnSpPr>
        <p:spPr>
          <a:xfrm>
            <a:off x="4594860" y="2434590"/>
            <a:ext cx="0" cy="1851660"/>
          </a:xfrm>
          <a:prstGeom prst="straightConnector1">
            <a:avLst/>
          </a:prstGeom>
          <a:noFill/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4" name="Google Shape;244;p25"/>
          <p:cNvSpPr/>
          <p:nvPr/>
        </p:nvSpPr>
        <p:spPr>
          <a:xfrm>
            <a:off x="445770" y="2468880"/>
            <a:ext cx="377190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Confidence Threshold Analysis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" name="Google Shape;245;p25"/>
          <p:cNvGraphicFramePr/>
          <p:nvPr/>
        </p:nvGraphicFramePr>
        <p:xfrm>
          <a:off x="445770" y="27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{561154BF-9EF9-46B2-8A83-AC7285DD7C91}</a:tableStyleId>
              </a:tblPr>
              <a:tblGrid>
                <a:gridCol w="144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Threshold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18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18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Coverage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1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τ = 0.10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71.8%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τ = 0.30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73.3%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96.2%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b="1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τ = 0.50  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7A3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b="1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81.4%</a:t>
                      </a:r>
                      <a:endParaRPr sz="900" u="none" strike="noStrike" cap="non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b="1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76.2%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τ = 0.70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90.7%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51.6%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τ = 0.90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97.8%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28.4%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6" name="Google Shape;246;p25"/>
          <p:cNvSpPr/>
          <p:nvPr/>
        </p:nvSpPr>
        <p:spPr>
          <a:xfrm>
            <a:off x="4869180" y="2468880"/>
            <a:ext cx="384048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LoRA Writer Personalisation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7" name="Google Shape;247;p25"/>
          <p:cNvGraphicFramePr/>
          <p:nvPr/>
        </p:nvGraphicFramePr>
        <p:xfrm>
          <a:off x="4869180" y="27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{561154BF-9EF9-46B2-8A83-AC7285DD7C91}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18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1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 before LoRA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71.9%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7A3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b="1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 after LoRA  </a:t>
                      </a:r>
                      <a:endParaRPr sz="900" u="none" strike="noStrike" cap="non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7A3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b="1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76.1%  </a:t>
                      </a:r>
                      <a:endParaRPr sz="900" u="none" strike="noStrike" cap="none">
                        <a:solidFill>
                          <a:srgbClr val="11111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Parameters trained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13,700 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Samples needed per class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labelled samples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Forecasting val MSE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strike="noStrike" cap="none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0.054 after 20 epochs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/>
          <p:nvPr/>
        </p:nvSpPr>
        <p:spPr>
          <a:xfrm rot="10800000" flipH="1">
            <a:off x="445775" y="1045873"/>
            <a:ext cx="2276700" cy="68700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6"/>
          <p:cNvSpPr/>
          <p:nvPr/>
        </p:nvSpPr>
        <p:spPr>
          <a:xfrm>
            <a:off x="0" y="4745736"/>
            <a:ext cx="9121140" cy="397764"/>
          </a:xfrm>
          <a:prstGeom prst="rect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6"/>
          <p:cNvSpPr/>
          <p:nvPr/>
        </p:nvSpPr>
        <p:spPr>
          <a:xfrm>
            <a:off x="2263140" y="4745736"/>
            <a:ext cx="329184" cy="397764"/>
          </a:xfrm>
          <a:prstGeom prst="rect">
            <a:avLst/>
          </a:prstGeom>
          <a:solidFill>
            <a:srgbClr val="E8C400"/>
          </a:solidFill>
          <a:ln w="12700" cap="flat" cmpd="sng">
            <a:solidFill>
              <a:srgbClr val="E8C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6"/>
          <p:cNvSpPr/>
          <p:nvPr/>
        </p:nvSpPr>
        <p:spPr>
          <a:xfrm>
            <a:off x="2640330" y="4745736"/>
            <a:ext cx="329184" cy="397764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6"/>
          <p:cNvSpPr/>
          <p:nvPr/>
        </p:nvSpPr>
        <p:spPr>
          <a:xfrm>
            <a:off x="3017520" y="4745736"/>
            <a:ext cx="329184" cy="3977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6"/>
          <p:cNvSpPr/>
          <p:nvPr/>
        </p:nvSpPr>
        <p:spPr>
          <a:xfrm>
            <a:off x="445770" y="260604"/>
            <a:ext cx="78867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3600"/>
              <a:buFont typeface="Calibri"/>
              <a:buNone/>
            </a:pPr>
            <a:r>
              <a:rPr lang="en" sz="36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445770" y="773074"/>
            <a:ext cx="7886700" cy="3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71.7% Top-1 accuracy is insufficient for accuracy-critical real-world deployment.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Trained on pen tablet data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a domain gap exists with actual free-air finger motion captured on webcam.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Only isolated character recognition 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continuous or word-level input is not supported.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High visual similarity between character pairs (O/0, l/I/1) causes systematic misclassification.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Fingertip tracking degrades under poor lighting conditions or rapid hand movement.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LoRA personalisation requires at least 5 labelled samples per class from each user.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445782" y="1042426"/>
            <a:ext cx="2571600" cy="54000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7"/>
          <p:cNvSpPr/>
          <p:nvPr/>
        </p:nvSpPr>
        <p:spPr>
          <a:xfrm>
            <a:off x="0" y="4745736"/>
            <a:ext cx="9121140" cy="397764"/>
          </a:xfrm>
          <a:prstGeom prst="rect">
            <a:avLst/>
          </a:prstGeom>
          <a:solidFill>
            <a:srgbClr val="E21833"/>
          </a:solidFill>
          <a:ln w="12700" cap="flat" cmpd="sng">
            <a:solidFill>
              <a:srgbClr val="E218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7"/>
          <p:cNvSpPr/>
          <p:nvPr/>
        </p:nvSpPr>
        <p:spPr>
          <a:xfrm>
            <a:off x="2263140" y="4745736"/>
            <a:ext cx="329184" cy="397764"/>
          </a:xfrm>
          <a:prstGeom prst="rect">
            <a:avLst/>
          </a:prstGeom>
          <a:solidFill>
            <a:srgbClr val="E8C400"/>
          </a:solidFill>
          <a:ln w="12700" cap="flat" cmpd="sng">
            <a:solidFill>
              <a:srgbClr val="E8C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2640330" y="4745736"/>
            <a:ext cx="329184" cy="397764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7"/>
          <p:cNvSpPr/>
          <p:nvPr/>
        </p:nvSpPr>
        <p:spPr>
          <a:xfrm>
            <a:off x="3017520" y="4745736"/>
            <a:ext cx="329184" cy="39776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7"/>
          <p:cNvSpPr/>
          <p:nvPr/>
        </p:nvSpPr>
        <p:spPr>
          <a:xfrm>
            <a:off x="445770" y="260604"/>
            <a:ext cx="78867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1833"/>
              </a:buClr>
              <a:buSzPts val="3600"/>
              <a:buFont typeface="Calibri"/>
              <a:buNone/>
            </a:pPr>
            <a:r>
              <a:rPr lang="en" sz="3600" b="1" i="0" u="none" strike="noStrike" cap="none">
                <a:solidFill>
                  <a:srgbClr val="E21833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345270" y="617774"/>
            <a:ext cx="7886700" cy="3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Collect and train on real free-air webcam data to close the pen tablet domain gap.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Extend from isolated characters to full word recognition using a language model decoder.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Automate LoRA adaptation</a:t>
            </a:r>
            <a:r>
              <a:rPr lang="en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update writer-specific weights continuously during normal use.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Deploy on AR/VR devices as a natural, surface-free text input method.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Apply the same Transformer to full hand pose trajectories for sign language recognition.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Integrate depth cameras or IMU sensors for richer 3D motion signals beyond 2D projection.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1833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/>
          <p:nvPr/>
        </p:nvSpPr>
        <p:spPr>
          <a:xfrm>
            <a:off x="6995160" y="0"/>
            <a:ext cx="2125980" cy="5143500"/>
          </a:xfrm>
          <a:prstGeom prst="rect">
            <a:avLst/>
          </a:prstGeom>
          <a:solidFill>
            <a:srgbClr val="CC1528"/>
          </a:solidFill>
          <a:ln w="12700" cap="flat" cmpd="sng">
            <a:solidFill>
              <a:srgbClr val="CC15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8"/>
          <p:cNvSpPr/>
          <p:nvPr/>
        </p:nvSpPr>
        <p:spPr>
          <a:xfrm>
            <a:off x="7440930" y="0"/>
            <a:ext cx="1680210" cy="5143500"/>
          </a:xfrm>
          <a:prstGeom prst="rect">
            <a:avLst/>
          </a:prstGeom>
          <a:solidFill>
            <a:srgbClr val="111111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8"/>
          <p:cNvSpPr/>
          <p:nvPr/>
        </p:nvSpPr>
        <p:spPr>
          <a:xfrm>
            <a:off x="7920990" y="0"/>
            <a:ext cx="1200150" cy="5143500"/>
          </a:xfrm>
          <a:prstGeom prst="rect">
            <a:avLst/>
          </a:prstGeom>
          <a:solidFill>
            <a:srgbClr val="FFD200"/>
          </a:solidFill>
          <a:ln w="12700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8"/>
          <p:cNvSpPr/>
          <p:nvPr/>
        </p:nvSpPr>
        <p:spPr>
          <a:xfrm>
            <a:off x="445770" y="1165860"/>
            <a:ext cx="6309360" cy="133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Calibri"/>
              <a:buNone/>
            </a:pPr>
            <a:r>
              <a:rPr lang="en" sz="5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You.</a:t>
            </a:r>
            <a:endParaRPr sz="5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445770" y="2777490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0" y="4581144"/>
            <a:ext cx="9121140" cy="562356"/>
          </a:xfrm>
          <a:prstGeom prst="rect">
            <a:avLst/>
          </a:prstGeom>
          <a:solidFill>
            <a:srgbClr val="CC1528"/>
          </a:solidFill>
          <a:ln w="12700" cap="flat" cmpd="sng">
            <a:solidFill>
              <a:srgbClr val="CC15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8"/>
          <p:cNvSpPr/>
          <p:nvPr/>
        </p:nvSpPr>
        <p:spPr>
          <a:xfrm>
            <a:off x="445770" y="4697730"/>
            <a:ext cx="61722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UNIVERSITY OF MARYLAND  ·  DEEP LEARNING  ·  SPRING 2025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1037</Words>
  <Application>Microsoft Office PowerPoint</Application>
  <PresentationFormat>On-screen Show (16:9)</PresentationFormat>
  <Paragraphs>162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nomitha sugavasi</cp:lastModifiedBy>
  <cp:revision>1</cp:revision>
  <dcterms:modified xsi:type="dcterms:W3CDTF">2026-05-07T23:19:53Z</dcterms:modified>
</cp:coreProperties>
</file>